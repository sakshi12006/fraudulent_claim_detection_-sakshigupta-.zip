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485AB-3C6F-415B-969C-F698B04F0AEC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C303F-78F1-45FC-8EFA-30CADE49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02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55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6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1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5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43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42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99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15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34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64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21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1872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81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033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36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662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6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D24733F-B762-4EBF-AE5C-B2AB412E8C93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8A03-6CAE-4DE8-823F-7E07D3638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879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C4B5-ACBE-A97F-4C19-6C684AA79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207" y="734122"/>
            <a:ext cx="9081865" cy="3425283"/>
          </a:xfrm>
        </p:spPr>
        <p:txBody>
          <a:bodyPr/>
          <a:lstStyle/>
          <a:p>
            <a:r>
              <a:rPr lang="en-US" dirty="0"/>
              <a:t>Insurance Fraud Detection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C30CC-48B3-419D-B59C-033DC2A4D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154" y="4264424"/>
            <a:ext cx="8825658" cy="86142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Predictive Modeling for Risk Mitigation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96433-0CD5-027A-00F5-B09272AA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84234" y="5542156"/>
            <a:ext cx="7772400" cy="702527"/>
          </a:xfrm>
        </p:spPr>
        <p:txBody>
          <a:bodyPr/>
          <a:lstStyle/>
          <a:p>
            <a:r>
              <a:rPr lang="it-IT" sz="2400" b="1" dirty="0">
                <a:solidFill>
                  <a:srgbClr val="FFFF00">
                    <a:alpha val="60000"/>
                  </a:srgbClr>
                </a:solidFill>
              </a:rPr>
              <a:t>Sakshi Gupta | Data Science &amp; AI Professional</a:t>
            </a:r>
            <a:endParaRPr lang="en-IN" sz="2400" b="1" dirty="0">
              <a:solidFill>
                <a:srgbClr val="FFFF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31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13DC32-43F4-E4F8-684B-8E44275A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57" y="232317"/>
            <a:ext cx="10018568" cy="1981200"/>
          </a:xfrm>
        </p:spPr>
        <p:txBody>
          <a:bodyPr/>
          <a:lstStyle/>
          <a:p>
            <a:r>
              <a:rPr lang="en-US" dirty="0"/>
              <a:t>The Challenge of Insurance Fraud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3752592-FB8F-5B61-7E89-647916CD316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62857" y="1998074"/>
            <a:ext cx="11412382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Fraudulent claims lead to massive annual financial losses.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verification is slow, expensive, and prone to human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an automated classification model that flags high-risk claims with high sensitivity.</a:t>
            </a:r>
          </a:p>
        </p:txBody>
      </p:sp>
    </p:spTree>
    <p:extLst>
      <p:ext uri="{BB962C8B-B14F-4D97-AF65-F5344CB8AC3E}">
        <p14:creationId xmlns:p14="http://schemas.microsoft.com/office/powerpoint/2010/main" val="137871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D79499-7148-C6E4-37A2-28B09FE9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07" y="-123827"/>
            <a:ext cx="9975010" cy="1574808"/>
          </a:xfrm>
        </p:spPr>
        <p:txBody>
          <a:bodyPr>
            <a:normAutofit/>
          </a:bodyPr>
          <a:lstStyle/>
          <a:p>
            <a:r>
              <a:rPr lang="en-US" sz="4000" dirty="0"/>
              <a:t>Class Imbalance: Understanding the Target Variable</a:t>
            </a:r>
            <a:endParaRPr lang="en-IN" sz="4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3A8EF4-F3C6-C62F-E09D-99B48304A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404" y="1540985"/>
            <a:ext cx="5322850" cy="4905670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C3BEF11A-CDA5-1E0C-84D4-862C1BF9943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23746" y="1793218"/>
            <a:ext cx="567225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Imbalanced Dataset: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Non-fraudulent claims ('N') significantly outnumber fraudulent ones ('Y’).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standard model might achieve high accuracy by simply predicting 'N' every time, but it would fail to catch the actual fraud.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Analytical Strategy: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imbalance necessitates the use of specialized techniques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Minority Over-sampling Technique (SMOTE)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adjusted class weights during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241982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3244-9610-F4B8-B0C7-7ED90A8A0B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1513" y="133619"/>
            <a:ext cx="10628313" cy="1401762"/>
          </a:xfrm>
        </p:spPr>
        <p:txBody>
          <a:bodyPr/>
          <a:lstStyle/>
          <a:p>
            <a:r>
              <a:rPr lang="en-US" dirty="0"/>
              <a:t>Analysis of insured sex, education level, and occupation against fraud reports.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D203E7-8A53-0492-B8DD-350ADD408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546" y="1819817"/>
            <a:ext cx="5756008" cy="46255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1E610B4-32CA-125C-1F4C-E13EB280F6EB}"/>
              </a:ext>
            </a:extLst>
          </p:cNvPr>
          <p:cNvSpPr txBox="1"/>
          <p:nvPr/>
        </p:nvSpPr>
        <p:spPr>
          <a:xfrm>
            <a:off x="375634" y="2388689"/>
            <a:ext cx="5597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Analysis indicates that fraudulent claims are distributed nearly equally between genders, though </a:t>
            </a:r>
            <a:r>
              <a:rPr lang="en-US" sz="2400" b="1" dirty="0">
                <a:solidFill>
                  <a:srgbClr val="FFFF00"/>
                </a:solidFill>
              </a:rPr>
              <a:t>Females</a:t>
            </a:r>
            <a:r>
              <a:rPr lang="en-US" sz="2400" dirty="0">
                <a:solidFill>
                  <a:srgbClr val="FFFF00"/>
                </a:solidFill>
              </a:rPr>
              <a:t> show a slightly higher count of reported fraud in this specific population.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68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6E561-576B-56A0-2C78-FEF110E4C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0" y="148640"/>
            <a:ext cx="5720620" cy="2940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1D599-E746-B053-91CD-6CF2A0CC8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878" y="3369767"/>
            <a:ext cx="6248445" cy="339902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90BA5D-261E-FE48-1F97-43E07E8A11E8}"/>
              </a:ext>
            </a:extLst>
          </p:cNvPr>
          <p:cNvCxnSpPr>
            <a:cxnSpLocks/>
          </p:cNvCxnSpPr>
          <p:nvPr/>
        </p:nvCxnSpPr>
        <p:spPr>
          <a:xfrm flipV="1">
            <a:off x="122620" y="3206665"/>
            <a:ext cx="11868703" cy="7200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2252AE-048D-7999-AB5A-6B579A1C3830}"/>
              </a:ext>
            </a:extLst>
          </p:cNvPr>
          <p:cNvSpPr txBox="1"/>
          <p:nvPr/>
        </p:nvSpPr>
        <p:spPr>
          <a:xfrm>
            <a:off x="5843240" y="1150585"/>
            <a:ext cx="66907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Fraudulent activity is observed across all education levels. Interestingly, </a:t>
            </a:r>
            <a:r>
              <a:rPr lang="en-US" sz="2400" b="1" dirty="0">
                <a:solidFill>
                  <a:srgbClr val="FFFF00"/>
                </a:solidFill>
              </a:rPr>
              <a:t>JD and MD</a:t>
            </a:r>
            <a:r>
              <a:rPr lang="en-US" sz="2400" dirty="0">
                <a:solidFill>
                  <a:srgbClr val="FFFF00"/>
                </a:solidFill>
              </a:rPr>
              <a:t> holders show a significant number of fraud reports, suggesting that higher education does not correlate with lower fraud risk.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874F1-87C9-1C4A-ABC5-C22E39CABF36}"/>
              </a:ext>
            </a:extLst>
          </p:cNvPr>
          <p:cNvSpPr txBox="1"/>
          <p:nvPr/>
        </p:nvSpPr>
        <p:spPr>
          <a:xfrm>
            <a:off x="446049" y="3802566"/>
            <a:ext cx="50068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High-risk profiles are more frequent among </a:t>
            </a:r>
            <a:r>
              <a:rPr lang="en-US" sz="2400" b="1" dirty="0">
                <a:solidFill>
                  <a:srgbClr val="FFFF00"/>
                </a:solidFill>
              </a:rPr>
              <a:t>Craft-repair, Exec-managerial, and Sales</a:t>
            </a:r>
            <a:r>
              <a:rPr lang="en-US" sz="2400" dirty="0">
                <a:solidFill>
                  <a:srgbClr val="FFFF00"/>
                </a:solidFill>
              </a:rPr>
              <a:t> occupations. These insights allow for better customer segmentation and risk-based pricing.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71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1207-2C90-9F99-775A-67C54172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03" y="173937"/>
            <a:ext cx="10638924" cy="1400530"/>
          </a:xfrm>
        </p:spPr>
        <p:txBody>
          <a:bodyPr/>
          <a:lstStyle/>
          <a:p>
            <a:r>
              <a:rPr lang="en-US" sz="4000" dirty="0"/>
              <a:t>Visualizing how </a:t>
            </a:r>
            <a:r>
              <a:rPr lang="en-US" sz="4000" dirty="0" err="1"/>
              <a:t>incident_type</a:t>
            </a:r>
            <a:r>
              <a:rPr lang="en-US" sz="4000" dirty="0"/>
              <a:t>, </a:t>
            </a:r>
            <a:r>
              <a:rPr lang="en-US" sz="4000" dirty="0" err="1"/>
              <a:t>collision_type</a:t>
            </a:r>
            <a:r>
              <a:rPr lang="en-US" sz="4000" dirty="0"/>
              <a:t>, and </a:t>
            </a:r>
            <a:r>
              <a:rPr lang="en-US" sz="4000" dirty="0" err="1"/>
              <a:t>authorities_contacted</a:t>
            </a:r>
            <a:r>
              <a:rPr lang="en-US" sz="4000" dirty="0"/>
              <a:t> correlate with fraudulent activity.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D8BBD-DE29-7507-965E-C074B9872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438" y="2141225"/>
            <a:ext cx="5032367" cy="4438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BF6E7-AE2B-8BB3-6241-DDF32F7CCE7B}"/>
              </a:ext>
            </a:extLst>
          </p:cNvPr>
          <p:cNvSpPr txBox="1"/>
          <p:nvPr/>
        </p:nvSpPr>
        <p:spPr>
          <a:xfrm>
            <a:off x="613317" y="3033133"/>
            <a:ext cx="58432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We have noticed that </a:t>
            </a:r>
            <a:r>
              <a:rPr lang="en-US" sz="2400" b="1" dirty="0">
                <a:solidFill>
                  <a:srgbClr val="FFFF00"/>
                </a:solidFill>
              </a:rPr>
              <a:t>"Single Vehicle Collision"</a:t>
            </a:r>
            <a:r>
              <a:rPr lang="en-US" sz="2400" dirty="0">
                <a:solidFill>
                  <a:srgbClr val="FFFF00"/>
                </a:solidFill>
              </a:rPr>
              <a:t> and </a:t>
            </a:r>
            <a:r>
              <a:rPr lang="en-US" sz="2400" b="1" dirty="0">
                <a:solidFill>
                  <a:srgbClr val="FFFF00"/>
                </a:solidFill>
              </a:rPr>
              <a:t>"Multi-vehicle Collision"</a:t>
            </a:r>
            <a:r>
              <a:rPr lang="en-US" sz="2400" dirty="0">
                <a:solidFill>
                  <a:srgbClr val="FFFF00"/>
                </a:solidFill>
              </a:rPr>
              <a:t> have much higher fraud reporting rates compared to "Parked Car" or "Vehicle Theft."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1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9A05-D142-A832-1615-2F09F3E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6431BE-4504-A155-4C4D-B73C3F765FDD}"/>
              </a:ext>
            </a:extLst>
          </p:cNvPr>
          <p:cNvCxnSpPr>
            <a:cxnSpLocks/>
          </p:cNvCxnSpPr>
          <p:nvPr/>
        </p:nvCxnSpPr>
        <p:spPr>
          <a:xfrm flipV="1">
            <a:off x="122620" y="3206665"/>
            <a:ext cx="11868703" cy="7200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EB1261-C691-CDC9-17DE-4566000DAC7A}"/>
              </a:ext>
            </a:extLst>
          </p:cNvPr>
          <p:cNvSpPr txBox="1"/>
          <p:nvPr/>
        </p:nvSpPr>
        <p:spPr>
          <a:xfrm>
            <a:off x="5501269" y="1117131"/>
            <a:ext cx="66907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Rear-end and side-impact collisions are statistically higher risk. These are often easier to "stage" or "provoke" in real-world insurance fraud scenarios, and the data reflects this pattern.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E9F4E3-2C57-6F27-3A98-9FCCFB88BC1B}"/>
              </a:ext>
            </a:extLst>
          </p:cNvPr>
          <p:cNvSpPr txBox="1"/>
          <p:nvPr/>
        </p:nvSpPr>
        <p:spPr>
          <a:xfrm>
            <a:off x="446049" y="3802566"/>
            <a:ext cx="50068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The presence of a Police or Fire department report does not guarantee a claim is legitimate; in fact, fraudulent claims often ensure formal authorities are involved to create a paper trail.</a:t>
            </a:r>
            <a:endParaRPr lang="en-IN" sz="24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A7338-86B6-CCD0-55C4-921DD36FA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0" y="100361"/>
            <a:ext cx="5330326" cy="3034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4C879E-CD1A-4213-6ED9-BF807506B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515" y="3350665"/>
            <a:ext cx="6059865" cy="338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BDDD-DAAB-7342-43EF-2CC5C3FF5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60" y="112510"/>
            <a:ext cx="9404723" cy="1400530"/>
          </a:xfrm>
        </p:spPr>
        <p:txBody>
          <a:bodyPr/>
          <a:lstStyle/>
          <a:p>
            <a:r>
              <a:rPr lang="en-IN" dirty="0"/>
              <a:t>Multicollinearity &amp; Feature Inter-relationships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AC7680-487C-E0B9-8CEE-30AD69B2F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51" y="1646855"/>
            <a:ext cx="10950498" cy="489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62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874D-65C8-B37C-26E3-DF0C85C8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9" y="95879"/>
            <a:ext cx="12036542" cy="1400530"/>
          </a:xfrm>
        </p:spPr>
        <p:txBody>
          <a:bodyPr/>
          <a:lstStyle/>
          <a:p>
            <a:r>
              <a:rPr lang="en-US" dirty="0"/>
              <a:t>Advanced Feature Engineering &amp; Multicollinearity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0BBD5-8335-8397-6C10-8A4B3F3F9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78" y="1691674"/>
            <a:ext cx="11374244" cy="2568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867DB3-49D5-36E6-66E4-93B07C7C5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541" y="4455031"/>
            <a:ext cx="6556917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42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AD0206-0177-997B-20B5-EF4B3C5F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65" y="140484"/>
            <a:ext cx="9404723" cy="1400530"/>
          </a:xfrm>
        </p:spPr>
        <p:txBody>
          <a:bodyPr/>
          <a:lstStyle/>
          <a:p>
            <a:r>
              <a:rPr lang="en-IN" dirty="0"/>
              <a:t>Model Diagnostics: ROC Curve &amp; AUC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21546-C021-DCDC-EE20-CDC221B05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654" y="1238847"/>
            <a:ext cx="5111946" cy="52336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8E8613-8818-ADD9-BDE8-8AE242B4C7A0}"/>
              </a:ext>
            </a:extLst>
          </p:cNvPr>
          <p:cNvSpPr txBox="1"/>
          <p:nvPr/>
        </p:nvSpPr>
        <p:spPr>
          <a:xfrm>
            <a:off x="222365" y="2367198"/>
            <a:ext cx="61338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The ROC Curve demonstrates a strong separation between classes, with the </a:t>
            </a:r>
            <a:r>
              <a:rPr lang="en-US" sz="2400" b="1" dirty="0">
                <a:solidFill>
                  <a:srgbClr val="FFFF00"/>
                </a:solidFill>
              </a:rPr>
              <a:t>Area Under the Curve (AUC) </a:t>
            </a:r>
            <a:r>
              <a:rPr lang="en-US" sz="2400" dirty="0">
                <a:solidFill>
                  <a:srgbClr val="FFFF00"/>
                </a:solidFill>
              </a:rPr>
              <a:t>indicating that the model has a high probability of correctly distinguishing a fraudulent claim from a legitimate one.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40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D433-2FEC-5AA7-3C31-E9E691E1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6" y="173938"/>
            <a:ext cx="10181723" cy="1400530"/>
          </a:xfrm>
        </p:spPr>
        <p:txBody>
          <a:bodyPr/>
          <a:lstStyle/>
          <a:p>
            <a:r>
              <a:rPr lang="en-US" dirty="0"/>
              <a:t>The "Most Wanted" List: Top Indicators of Insurance Fraud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BF094-3258-A625-D30D-524796D06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483" y="1228780"/>
            <a:ext cx="6260211" cy="5455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E91186-63BC-DBE2-EE67-986C51F66F54}"/>
              </a:ext>
            </a:extLst>
          </p:cNvPr>
          <p:cNvSpPr txBox="1"/>
          <p:nvPr/>
        </p:nvSpPr>
        <p:spPr>
          <a:xfrm>
            <a:off x="339453" y="1909707"/>
            <a:ext cx="52528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Critical Risk Factors:</a:t>
            </a:r>
            <a:r>
              <a:rPr lang="en-US" sz="2000" dirty="0">
                <a:solidFill>
                  <a:srgbClr val="FFFF00"/>
                </a:solidFill>
              </a:rPr>
              <a:t> The model identifies </a:t>
            </a:r>
            <a:r>
              <a:rPr lang="en-US" sz="2000" b="1" dirty="0">
                <a:solidFill>
                  <a:srgbClr val="FFFF00"/>
                </a:solidFill>
              </a:rPr>
              <a:t>Incident Severity (Minor Damage/Total Loss)</a:t>
            </a:r>
            <a:r>
              <a:rPr lang="en-US" sz="2000" dirty="0">
                <a:solidFill>
                  <a:srgbClr val="FFFF00"/>
                </a:solidFill>
              </a:rPr>
              <a:t> and </a:t>
            </a:r>
            <a:r>
              <a:rPr lang="en-US" sz="2000" b="1" dirty="0">
                <a:solidFill>
                  <a:srgbClr val="FFFF00"/>
                </a:solidFill>
              </a:rPr>
              <a:t>Total Claim Amount</a:t>
            </a:r>
            <a:r>
              <a:rPr lang="en-US" sz="2000" dirty="0">
                <a:solidFill>
                  <a:srgbClr val="FFFF00"/>
                </a:solidFill>
              </a:rPr>
              <a:t> as the most significant predictors. High-impact accidents with high financial stakes are key indicators of potential fraud.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FF00"/>
                </a:solidFill>
              </a:rPr>
              <a:t>Demographic &amp; Historical Context: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b="1" dirty="0">
                <a:solidFill>
                  <a:srgbClr val="FFFF00"/>
                </a:solidFill>
              </a:rPr>
              <a:t>Age</a:t>
            </a:r>
            <a:r>
              <a:rPr lang="en-US" sz="2000" dirty="0">
                <a:solidFill>
                  <a:srgbClr val="FFFF00"/>
                </a:solidFill>
              </a:rPr>
              <a:t> and </a:t>
            </a:r>
            <a:r>
              <a:rPr lang="en-US" sz="2000" b="1" dirty="0">
                <a:solidFill>
                  <a:srgbClr val="FFFF00"/>
                </a:solidFill>
              </a:rPr>
              <a:t>Auto Year</a:t>
            </a:r>
            <a:r>
              <a:rPr lang="en-US" sz="2000" dirty="0">
                <a:solidFill>
                  <a:srgbClr val="FFFF00"/>
                </a:solidFill>
              </a:rPr>
              <a:t> also play a supporting role in detection, suggesting that older vehicles or specific age groups may follow distinct patterns in fraudulent reporting.</a:t>
            </a:r>
            <a:endParaRPr lang="en-IN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550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F499-133C-7E88-07BF-1CD81979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55" y="95878"/>
            <a:ext cx="11575625" cy="1400530"/>
          </a:xfrm>
        </p:spPr>
        <p:txBody>
          <a:bodyPr/>
          <a:lstStyle/>
          <a:p>
            <a:r>
              <a:rPr lang="en-US" dirty="0"/>
              <a:t>The Model Scoreboard: Assessing Fraud Detection Accuracy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B2B95-4B86-4B1F-6CEA-B575C27E2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826" y="2272095"/>
            <a:ext cx="5493096" cy="4249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F4E57-EDEA-6374-A02F-9AB6F8490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492" y="871565"/>
            <a:ext cx="3081454" cy="1249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590D68-D636-3C85-9608-CF67ADF2F76A}"/>
              </a:ext>
            </a:extLst>
          </p:cNvPr>
          <p:cNvSpPr txBox="1"/>
          <p:nvPr/>
        </p:nvSpPr>
        <p:spPr>
          <a:xfrm>
            <a:off x="211873" y="1839951"/>
            <a:ext cx="62000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With a </a:t>
            </a:r>
            <a:r>
              <a:rPr lang="en-US" sz="2000" b="1" dirty="0">
                <a:solidFill>
                  <a:srgbClr val="FFFF00"/>
                </a:solidFill>
              </a:rPr>
              <a:t>Sensitivity (Recall) of 0.53</a:t>
            </a:r>
            <a:r>
              <a:rPr lang="en-US" sz="2000" dirty="0">
                <a:solidFill>
                  <a:srgbClr val="FFFF00"/>
                </a:solidFill>
              </a:rPr>
              <a:t>, the model successfully identifies 53% of all actual fraudulent claims, providing a proactive shield against financial loss.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A high </a:t>
            </a:r>
            <a:r>
              <a:rPr lang="en-US" sz="2000" b="1" dirty="0">
                <a:solidFill>
                  <a:srgbClr val="FFFF00"/>
                </a:solidFill>
              </a:rPr>
              <a:t>Specificity of 0.83</a:t>
            </a:r>
            <a:r>
              <a:rPr lang="en-US" sz="2000" dirty="0">
                <a:solidFill>
                  <a:srgbClr val="FFFF00"/>
                </a:solidFill>
              </a:rPr>
              <a:t> means the model is excellent at recognizing legitimate claims, ensuring 83% of honest customers are not wrongly flagged for investigation.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The final </a:t>
            </a:r>
            <a:r>
              <a:rPr lang="en-US" sz="2000" b="1" dirty="0">
                <a:solidFill>
                  <a:srgbClr val="FFFF00"/>
                </a:solidFill>
              </a:rPr>
              <a:t>Validation Accuracy of 75.5%</a:t>
            </a:r>
            <a:r>
              <a:rPr lang="en-US" sz="2000" dirty="0">
                <a:solidFill>
                  <a:srgbClr val="FFFF00"/>
                </a:solidFill>
              </a:rPr>
              <a:t> proves that the model is robust enough to act as a reliable "First Filter" in the insurance approval pipeline.</a:t>
            </a:r>
            <a:endParaRPr lang="en-IN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6BB29D-5F5D-2EC8-771C-F2EB2BF0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793" y="165409"/>
            <a:ext cx="8825659" cy="1981200"/>
          </a:xfrm>
        </p:spPr>
        <p:txBody>
          <a:bodyPr/>
          <a:lstStyle/>
          <a:p>
            <a:r>
              <a:rPr lang="en-US" dirty="0"/>
              <a:t>Final Recommendation: The Winning Fraud Strategy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2EA4D-D6F3-5569-922D-8377F920E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62" y="1851102"/>
            <a:ext cx="12266341" cy="500689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Superior Detection Power:</a:t>
            </a:r>
            <a:r>
              <a:rPr lang="en-US" sz="2400" dirty="0">
                <a:solidFill>
                  <a:srgbClr val="FFFF00"/>
                </a:solidFill>
              </a:rPr>
              <a:t> The </a:t>
            </a:r>
            <a:r>
              <a:rPr lang="en-US" sz="2400" b="1" dirty="0">
                <a:solidFill>
                  <a:srgbClr val="FFFF00"/>
                </a:solidFill>
              </a:rPr>
              <a:t>Tuned Random Forest</a:t>
            </a:r>
            <a:r>
              <a:rPr lang="en-US" sz="2400" dirty="0">
                <a:solidFill>
                  <a:srgbClr val="FFFF00"/>
                </a:solidFill>
              </a:rPr>
              <a:t> is our champion model, doubling the fraud detection rate (Sensitivity: </a:t>
            </a:r>
            <a:r>
              <a:rPr lang="en-US" sz="2400" b="1" dirty="0">
                <a:solidFill>
                  <a:srgbClr val="FFFF00"/>
                </a:solidFill>
              </a:rPr>
              <a:t>0.53</a:t>
            </a:r>
            <a:r>
              <a:rPr lang="en-US" sz="2400" dirty="0">
                <a:solidFill>
                  <a:srgbClr val="FFFF00"/>
                </a:solidFill>
              </a:rPr>
              <a:t>) compared to traditional Logistic Regression.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Operational Efficiency:</a:t>
            </a:r>
            <a:r>
              <a:rPr lang="en-US" sz="2400" dirty="0">
                <a:solidFill>
                  <a:srgbClr val="FFFF00"/>
                </a:solidFill>
              </a:rPr>
              <a:t> By maintaining a </a:t>
            </a:r>
            <a:r>
              <a:rPr lang="en-US" sz="2400" b="1" dirty="0">
                <a:solidFill>
                  <a:srgbClr val="FFFF00"/>
                </a:solidFill>
              </a:rPr>
              <a:t>Specificity of 0.83</a:t>
            </a:r>
            <a:r>
              <a:rPr lang="en-US" sz="2400" dirty="0">
                <a:solidFill>
                  <a:srgbClr val="FFFF00"/>
                </a:solidFill>
              </a:rPr>
              <a:t>, the model ensures that the vast majority of legitimate claims are fast-tracked, protecting the experience for honest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Strategic Impact:</a:t>
            </a:r>
            <a:r>
              <a:rPr lang="en-US" sz="2400" dirty="0">
                <a:solidFill>
                  <a:srgbClr val="FFFF00"/>
                </a:solidFill>
              </a:rPr>
              <a:t> Transitioning from manual reviews to this AI-driven approach allows Global Insure to automate the audit of </a:t>
            </a:r>
            <a:r>
              <a:rPr lang="en-US" sz="2400" b="1" dirty="0">
                <a:solidFill>
                  <a:srgbClr val="FFFF00"/>
                </a:solidFill>
              </a:rPr>
              <a:t>over 80% of claims</a:t>
            </a:r>
            <a:r>
              <a:rPr lang="en-US" sz="2400" dirty="0">
                <a:solidFill>
                  <a:srgbClr val="FFFF00"/>
                </a:solidFill>
              </a:rPr>
              <a:t>, focusing investigative resources only where the risk is highest.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93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1707</TotalTime>
  <Words>693</Words>
  <Application>Microsoft Office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Ion</vt:lpstr>
      <vt:lpstr>Insurance Fraud Detection using Machine Learning</vt:lpstr>
      <vt:lpstr>The Challenge of Insurance Fraud</vt:lpstr>
      <vt:lpstr>Class Imbalance: Understanding the Target Variable</vt:lpstr>
      <vt:lpstr>Analysis of insured sex, education level, and occupation against fraud reports.</vt:lpstr>
      <vt:lpstr>PowerPoint Presentation</vt:lpstr>
      <vt:lpstr>Visualizing how incident_type, collision_type, and authorities_contacted correlate with fraudulent activity.</vt:lpstr>
      <vt:lpstr>PowerPoint Presentation</vt:lpstr>
      <vt:lpstr>Multicollinearity &amp; Feature Inter-relationships</vt:lpstr>
      <vt:lpstr>Advanced Feature Engineering &amp; Multicollinearity Analysis</vt:lpstr>
      <vt:lpstr>Model Diagnostics: ROC Curve &amp; AUC Performance</vt:lpstr>
      <vt:lpstr>The "Most Wanted" List: Top Indicators of Insurance Fraud</vt:lpstr>
      <vt:lpstr>The Model Scoreboard: Assessing Fraud Detection Accuracy</vt:lpstr>
      <vt:lpstr>Final Recommendation: The Winning Fraud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gupta</dc:creator>
  <cp:lastModifiedBy>sakshi gupta</cp:lastModifiedBy>
  <cp:revision>1</cp:revision>
  <dcterms:created xsi:type="dcterms:W3CDTF">2026-01-10T07:58:27Z</dcterms:created>
  <dcterms:modified xsi:type="dcterms:W3CDTF">2026-01-11T12:26:18Z</dcterms:modified>
</cp:coreProperties>
</file>